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2" r:id="rId9"/>
    <p:sldId id="261" r:id="rId10"/>
    <p:sldId id="263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A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C7A740-FC44-4876-B6CF-8EF8A95081E7}" v="288" dt="2025-05-02T13:14:49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8.9700891241999092E-2"/>
          <c:y val="9.2575351096496589E-2"/>
          <c:w val="0.90837982680520557"/>
          <c:h val="0.767729591059941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66AEBA"/>
            </a:solidFill>
            <a:ln>
              <a:noFill/>
            </a:ln>
            <a:effectLst/>
          </c:spPr>
          <c:invertIfNegative val="0"/>
          <c:cat>
            <c:strRef>
              <c:f>Foglio1!$A$2:$A$5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472</c:v>
                </c:pt>
                <c:pt idx="1">
                  <c:v>471</c:v>
                </c:pt>
                <c:pt idx="2">
                  <c:v>471</c:v>
                </c:pt>
                <c:pt idx="3">
                  <c:v>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5D-495D-A78F-0436280E7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6833408"/>
        <c:axId val="1986831488"/>
      </c:barChart>
      <c:catAx>
        <c:axId val="198683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986831488"/>
        <c:crosses val="autoZero"/>
        <c:auto val="1"/>
        <c:lblAlgn val="ctr"/>
        <c:lblOffset val="100"/>
        <c:noMultiLvlLbl val="0"/>
      </c:catAx>
      <c:valAx>
        <c:axId val="198683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986833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C24BB3-71D0-45A7-95DE-B9A6B80D3BC9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6F18F8EA-EE01-4D9B-9E2D-4658AEFE1792}">
      <dgm:prSet phldrT="[Testo]"/>
      <dgm:spPr>
        <a:solidFill>
          <a:srgbClr val="66AEBA"/>
        </a:solidFill>
      </dgm:spPr>
      <dgm:t>
        <a:bodyPr/>
        <a:lstStyle/>
        <a:p>
          <a:r>
            <a:rPr lang="it-IT" dirty="0"/>
            <a:t>Import dati</a:t>
          </a:r>
        </a:p>
      </dgm:t>
    </dgm:pt>
    <dgm:pt modelId="{E9D48A32-2815-402B-BADA-4B03FA79FF9B}" type="parTrans" cxnId="{BC0DC929-7F4B-49F6-B9B5-E3BF6E538413}">
      <dgm:prSet/>
      <dgm:spPr/>
      <dgm:t>
        <a:bodyPr/>
        <a:lstStyle/>
        <a:p>
          <a:endParaRPr lang="it-IT"/>
        </a:p>
      </dgm:t>
    </dgm:pt>
    <dgm:pt modelId="{89F30C73-62BA-4D28-9A43-E25D752DDB4F}" type="sibTrans" cxnId="{BC0DC929-7F4B-49F6-B9B5-E3BF6E538413}">
      <dgm:prSet/>
      <dgm:spPr/>
      <dgm:t>
        <a:bodyPr/>
        <a:lstStyle/>
        <a:p>
          <a:endParaRPr lang="it-IT"/>
        </a:p>
      </dgm:t>
    </dgm:pt>
    <dgm:pt modelId="{B1B268D7-48B3-4979-84B8-184E91B8A1A3}">
      <dgm:prSet phldrT="[Testo]"/>
      <dgm:spPr/>
      <dgm:t>
        <a:bodyPr/>
        <a:lstStyle/>
        <a:p>
          <a:r>
            <a:rPr lang="it-IT" dirty="0"/>
            <a:t>Creazione split;</a:t>
          </a:r>
        </a:p>
      </dgm:t>
    </dgm:pt>
    <dgm:pt modelId="{3FCE1691-FC9A-42A3-82FA-E53213467AED}" type="parTrans" cxnId="{A01C81E1-4C7A-4E35-9609-0EBFFA66078F}">
      <dgm:prSet/>
      <dgm:spPr/>
      <dgm:t>
        <a:bodyPr/>
        <a:lstStyle/>
        <a:p>
          <a:endParaRPr lang="it-IT"/>
        </a:p>
      </dgm:t>
    </dgm:pt>
    <dgm:pt modelId="{F9FE84A6-1ECB-480A-A627-FCB6593A9DC4}" type="sibTrans" cxnId="{A01C81E1-4C7A-4E35-9609-0EBFFA66078F}">
      <dgm:prSet/>
      <dgm:spPr/>
      <dgm:t>
        <a:bodyPr/>
        <a:lstStyle/>
        <a:p>
          <a:endParaRPr lang="it-IT"/>
        </a:p>
      </dgm:t>
    </dgm:pt>
    <dgm:pt modelId="{857E80D8-3D77-449B-A60E-84BC42049766}">
      <dgm:prSet phldrT="[Testo]"/>
      <dgm:spPr/>
      <dgm:t>
        <a:bodyPr/>
        <a:lstStyle/>
        <a:p>
          <a:r>
            <a:rPr lang="it-IT" dirty="0"/>
            <a:t>Standardizzazione dei dati;</a:t>
          </a:r>
        </a:p>
      </dgm:t>
    </dgm:pt>
    <dgm:pt modelId="{6EBE4CAF-4222-46B7-8508-DF38FCD81ABF}" type="parTrans" cxnId="{7A32D2AA-074E-42EC-9C97-790A6BD00ACE}">
      <dgm:prSet/>
      <dgm:spPr/>
      <dgm:t>
        <a:bodyPr/>
        <a:lstStyle/>
        <a:p>
          <a:endParaRPr lang="it-IT"/>
        </a:p>
      </dgm:t>
    </dgm:pt>
    <dgm:pt modelId="{91F5CA1C-3EF4-4B49-8942-FBA6D2CD0393}" type="sibTrans" cxnId="{7A32D2AA-074E-42EC-9C97-790A6BD00ACE}">
      <dgm:prSet/>
      <dgm:spPr/>
      <dgm:t>
        <a:bodyPr/>
        <a:lstStyle/>
        <a:p>
          <a:endParaRPr lang="it-IT"/>
        </a:p>
      </dgm:t>
    </dgm:pt>
    <dgm:pt modelId="{3AC0D1E7-5C5E-447A-8D01-3E9D529B1D4F}">
      <dgm:prSet phldrT="[Testo]"/>
      <dgm:spPr>
        <a:solidFill>
          <a:srgbClr val="66AEBA"/>
        </a:solidFill>
      </dgm:spPr>
      <dgm:t>
        <a:bodyPr/>
        <a:lstStyle/>
        <a:p>
          <a:r>
            <a:rPr lang="it-IT" dirty="0"/>
            <a:t>Allenamento sul </a:t>
          </a:r>
          <a:r>
            <a:rPr lang="it-IT" dirty="0" err="1"/>
            <a:t>train</a:t>
          </a:r>
          <a:r>
            <a:rPr lang="it-IT" dirty="0"/>
            <a:t> set</a:t>
          </a:r>
        </a:p>
      </dgm:t>
    </dgm:pt>
    <dgm:pt modelId="{646C05D3-372B-49A0-A390-F493D83DE1F0}" type="parTrans" cxnId="{7306BDA3-478E-4825-AA41-E1BBAB48299A}">
      <dgm:prSet/>
      <dgm:spPr/>
      <dgm:t>
        <a:bodyPr/>
        <a:lstStyle/>
        <a:p>
          <a:endParaRPr lang="it-IT"/>
        </a:p>
      </dgm:t>
    </dgm:pt>
    <dgm:pt modelId="{E60255F8-AB26-47E5-915A-2D6F0D269D34}" type="sibTrans" cxnId="{7306BDA3-478E-4825-AA41-E1BBAB48299A}">
      <dgm:prSet/>
      <dgm:spPr/>
      <dgm:t>
        <a:bodyPr/>
        <a:lstStyle/>
        <a:p>
          <a:endParaRPr lang="it-IT"/>
        </a:p>
      </dgm:t>
    </dgm:pt>
    <dgm:pt modelId="{B1B6AB4C-F9E7-4883-9774-91484A4EF2A1}">
      <dgm:prSet phldrT="[Testo]"/>
      <dgm:spPr/>
      <dgm:t>
        <a:bodyPr/>
        <a:lstStyle/>
        <a:p>
          <a:r>
            <a:rPr lang="it-IT" dirty="0"/>
            <a:t>Uso di </a:t>
          </a:r>
          <a:r>
            <a:rPr lang="it-IT" dirty="0" err="1"/>
            <a:t>GridSearch</a:t>
          </a:r>
          <a:r>
            <a:rPr lang="it-IT" dirty="0"/>
            <a:t> con CV;</a:t>
          </a:r>
        </a:p>
      </dgm:t>
    </dgm:pt>
    <dgm:pt modelId="{04A6CD89-E809-44C8-A465-66196830ABE0}" type="parTrans" cxnId="{BDAD1D8D-D446-4C5C-99D8-B0CA61BA4262}">
      <dgm:prSet/>
      <dgm:spPr/>
      <dgm:t>
        <a:bodyPr/>
        <a:lstStyle/>
        <a:p>
          <a:endParaRPr lang="it-IT"/>
        </a:p>
      </dgm:t>
    </dgm:pt>
    <dgm:pt modelId="{7F89E86D-B4DE-486B-AB89-A24FECAD83A2}" type="sibTrans" cxnId="{BDAD1D8D-D446-4C5C-99D8-B0CA61BA4262}">
      <dgm:prSet/>
      <dgm:spPr/>
      <dgm:t>
        <a:bodyPr/>
        <a:lstStyle/>
        <a:p>
          <a:endParaRPr lang="it-IT"/>
        </a:p>
      </dgm:t>
    </dgm:pt>
    <dgm:pt modelId="{39E1D256-DB48-4D2E-8CCD-59ADC40648B9}">
      <dgm:prSet phldrT="[Testo]"/>
      <dgm:spPr/>
      <dgm:t>
        <a:bodyPr/>
        <a:lstStyle/>
        <a:p>
          <a:r>
            <a:rPr lang="it-IT" dirty="0"/>
            <a:t>Valutazione sul </a:t>
          </a:r>
          <a:r>
            <a:rPr lang="it-IT" dirty="0" err="1"/>
            <a:t>validation</a:t>
          </a:r>
          <a:r>
            <a:rPr lang="it-IT" dirty="0"/>
            <a:t> set;</a:t>
          </a:r>
        </a:p>
      </dgm:t>
    </dgm:pt>
    <dgm:pt modelId="{BC5F85A9-539C-49BA-A626-C7940FC2EB4D}" type="parTrans" cxnId="{723586C7-BDF1-41CE-ACAB-B7503999A6A5}">
      <dgm:prSet/>
      <dgm:spPr/>
      <dgm:t>
        <a:bodyPr/>
        <a:lstStyle/>
        <a:p>
          <a:endParaRPr lang="it-IT"/>
        </a:p>
      </dgm:t>
    </dgm:pt>
    <dgm:pt modelId="{6F1134A6-F0C0-4382-9A4A-6F9C3290F6AD}" type="sibTrans" cxnId="{723586C7-BDF1-41CE-ACAB-B7503999A6A5}">
      <dgm:prSet/>
      <dgm:spPr/>
      <dgm:t>
        <a:bodyPr/>
        <a:lstStyle/>
        <a:p>
          <a:endParaRPr lang="it-IT"/>
        </a:p>
      </dgm:t>
    </dgm:pt>
    <dgm:pt modelId="{AF0A73F6-DE7D-4AD4-9D22-815A9BA754FF}">
      <dgm:prSet phldrT="[Testo]"/>
      <dgm:spPr>
        <a:solidFill>
          <a:srgbClr val="66AEBA"/>
        </a:solidFill>
      </dgm:spPr>
      <dgm:t>
        <a:bodyPr/>
        <a:lstStyle/>
        <a:p>
          <a:r>
            <a:rPr lang="it-IT"/>
            <a:t>Confronto metriche</a:t>
          </a:r>
          <a:endParaRPr lang="it-IT" dirty="0"/>
        </a:p>
      </dgm:t>
    </dgm:pt>
    <dgm:pt modelId="{21E7AD26-C69A-4222-A028-C82D37B92A5C}" type="parTrans" cxnId="{B2CD47FB-A856-47A0-B922-D547DEE4AFA3}">
      <dgm:prSet/>
      <dgm:spPr/>
      <dgm:t>
        <a:bodyPr/>
        <a:lstStyle/>
        <a:p>
          <a:endParaRPr lang="it-IT"/>
        </a:p>
      </dgm:t>
    </dgm:pt>
    <dgm:pt modelId="{7D8E1DE3-6EDE-48A9-91A1-8EF567FD0BC8}" type="sibTrans" cxnId="{B2CD47FB-A856-47A0-B922-D547DEE4AFA3}">
      <dgm:prSet/>
      <dgm:spPr/>
      <dgm:t>
        <a:bodyPr/>
        <a:lstStyle/>
        <a:p>
          <a:endParaRPr lang="it-IT"/>
        </a:p>
      </dgm:t>
    </dgm:pt>
    <dgm:pt modelId="{CE11ECE7-E714-44BC-915F-5ABC3C05B642}">
      <dgm:prSet phldrT="[Testo]"/>
      <dgm:spPr/>
      <dgm:t>
        <a:bodyPr/>
        <a:lstStyle/>
        <a:p>
          <a:r>
            <a:rPr lang="it-IT" dirty="0"/>
            <a:t>Selezione modello migliore;</a:t>
          </a:r>
        </a:p>
      </dgm:t>
    </dgm:pt>
    <dgm:pt modelId="{C83123C0-E8DE-49C0-AE6F-D94FE38B4A26}" type="parTrans" cxnId="{E2119663-6A7E-4CB5-A64E-8E66B9E497C7}">
      <dgm:prSet/>
      <dgm:spPr/>
      <dgm:t>
        <a:bodyPr/>
        <a:lstStyle/>
        <a:p>
          <a:endParaRPr lang="it-IT"/>
        </a:p>
      </dgm:t>
    </dgm:pt>
    <dgm:pt modelId="{B912C39C-57BD-4A2C-B7D0-8124F7C120C1}" type="sibTrans" cxnId="{E2119663-6A7E-4CB5-A64E-8E66B9E497C7}">
      <dgm:prSet/>
      <dgm:spPr/>
      <dgm:t>
        <a:bodyPr/>
        <a:lstStyle/>
        <a:p>
          <a:endParaRPr lang="it-IT"/>
        </a:p>
      </dgm:t>
    </dgm:pt>
    <dgm:pt modelId="{1ED0404C-1481-4179-A187-78764822F2C2}">
      <dgm:prSet phldrT="[Testo]"/>
      <dgm:spPr/>
      <dgm:t>
        <a:bodyPr/>
        <a:lstStyle/>
        <a:p>
          <a:r>
            <a:rPr lang="it-IT" dirty="0"/>
            <a:t>Analisi risultati.</a:t>
          </a:r>
        </a:p>
      </dgm:t>
    </dgm:pt>
    <dgm:pt modelId="{5C297764-08E4-4A06-A516-188ABB2C5C2F}" type="parTrans" cxnId="{AACC60D8-E487-4A92-A24F-3293842C62A8}">
      <dgm:prSet/>
      <dgm:spPr/>
      <dgm:t>
        <a:bodyPr/>
        <a:lstStyle/>
        <a:p>
          <a:endParaRPr lang="it-IT"/>
        </a:p>
      </dgm:t>
    </dgm:pt>
    <dgm:pt modelId="{71B4EEF7-509B-414B-88EE-33690F8FABA0}" type="sibTrans" cxnId="{AACC60D8-E487-4A92-A24F-3293842C62A8}">
      <dgm:prSet/>
      <dgm:spPr/>
      <dgm:t>
        <a:bodyPr/>
        <a:lstStyle/>
        <a:p>
          <a:endParaRPr lang="it-IT"/>
        </a:p>
      </dgm:t>
    </dgm:pt>
    <dgm:pt modelId="{0016843D-B160-4C78-B8E9-A101281FBDE8}" type="pres">
      <dgm:prSet presAssocID="{99C24BB3-71D0-45A7-95DE-B9A6B80D3BC9}" presName="linearFlow" presStyleCnt="0">
        <dgm:presLayoutVars>
          <dgm:dir/>
          <dgm:animLvl val="lvl"/>
          <dgm:resizeHandles val="exact"/>
        </dgm:presLayoutVars>
      </dgm:prSet>
      <dgm:spPr/>
    </dgm:pt>
    <dgm:pt modelId="{0D88E0FC-0DFB-4F03-B0AF-FB460563795B}" type="pres">
      <dgm:prSet presAssocID="{6F18F8EA-EE01-4D9B-9E2D-4658AEFE1792}" presName="composite" presStyleCnt="0"/>
      <dgm:spPr/>
    </dgm:pt>
    <dgm:pt modelId="{08B7BEA5-9802-4559-9408-37C0DB4EDC38}" type="pres">
      <dgm:prSet presAssocID="{6F18F8EA-EE01-4D9B-9E2D-4658AEFE1792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3CFFA77-9DCD-4ECE-9AEF-A16C53992C90}" type="pres">
      <dgm:prSet presAssocID="{6F18F8EA-EE01-4D9B-9E2D-4658AEFE1792}" presName="descendantText" presStyleLbl="alignAcc1" presStyleIdx="0" presStyleCnt="3">
        <dgm:presLayoutVars>
          <dgm:bulletEnabled val="1"/>
        </dgm:presLayoutVars>
      </dgm:prSet>
      <dgm:spPr/>
    </dgm:pt>
    <dgm:pt modelId="{39F28F8B-9F61-4916-811A-E3635E276EEE}" type="pres">
      <dgm:prSet presAssocID="{89F30C73-62BA-4D28-9A43-E25D752DDB4F}" presName="sp" presStyleCnt="0"/>
      <dgm:spPr/>
    </dgm:pt>
    <dgm:pt modelId="{86FE27F7-9A68-4A8C-B16B-FE6C3292E6EE}" type="pres">
      <dgm:prSet presAssocID="{3AC0D1E7-5C5E-447A-8D01-3E9D529B1D4F}" presName="composite" presStyleCnt="0"/>
      <dgm:spPr/>
    </dgm:pt>
    <dgm:pt modelId="{813F78FF-46A0-4428-B95B-2EE9B67EC582}" type="pres">
      <dgm:prSet presAssocID="{3AC0D1E7-5C5E-447A-8D01-3E9D529B1D4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E614445-D26A-407E-811A-4F6278346696}" type="pres">
      <dgm:prSet presAssocID="{3AC0D1E7-5C5E-447A-8D01-3E9D529B1D4F}" presName="descendantText" presStyleLbl="alignAcc1" presStyleIdx="1" presStyleCnt="3">
        <dgm:presLayoutVars>
          <dgm:bulletEnabled val="1"/>
        </dgm:presLayoutVars>
      </dgm:prSet>
      <dgm:spPr/>
    </dgm:pt>
    <dgm:pt modelId="{7155AE4B-DFD4-4895-B8CD-063ECAED3525}" type="pres">
      <dgm:prSet presAssocID="{E60255F8-AB26-47E5-915A-2D6F0D269D34}" presName="sp" presStyleCnt="0"/>
      <dgm:spPr/>
    </dgm:pt>
    <dgm:pt modelId="{680FB367-1E22-457D-9AE0-9CB1B2B2C03A}" type="pres">
      <dgm:prSet presAssocID="{AF0A73F6-DE7D-4AD4-9D22-815A9BA754FF}" presName="composite" presStyleCnt="0"/>
      <dgm:spPr/>
    </dgm:pt>
    <dgm:pt modelId="{8707C0AB-D5F6-44A2-A23F-B781F3F4283E}" type="pres">
      <dgm:prSet presAssocID="{AF0A73F6-DE7D-4AD4-9D22-815A9BA754F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658B53A-EDE6-456F-A213-1AE2B118D67D}" type="pres">
      <dgm:prSet presAssocID="{AF0A73F6-DE7D-4AD4-9D22-815A9BA754FF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08C8FD00-F78F-48D7-AD51-A83AB26066A5}" type="presOf" srcId="{CE11ECE7-E714-44BC-915F-5ABC3C05B642}" destId="{0658B53A-EDE6-456F-A213-1AE2B118D67D}" srcOrd="0" destOrd="0" presId="urn:microsoft.com/office/officeart/2005/8/layout/chevron2"/>
    <dgm:cxn modelId="{96D42005-237F-4C89-9FB2-E3364478232A}" type="presOf" srcId="{AF0A73F6-DE7D-4AD4-9D22-815A9BA754FF}" destId="{8707C0AB-D5F6-44A2-A23F-B781F3F4283E}" srcOrd="0" destOrd="0" presId="urn:microsoft.com/office/officeart/2005/8/layout/chevron2"/>
    <dgm:cxn modelId="{3CE99A1A-5F97-4103-B840-B38E31E80376}" type="presOf" srcId="{6F18F8EA-EE01-4D9B-9E2D-4658AEFE1792}" destId="{08B7BEA5-9802-4559-9408-37C0DB4EDC38}" srcOrd="0" destOrd="0" presId="urn:microsoft.com/office/officeart/2005/8/layout/chevron2"/>
    <dgm:cxn modelId="{9B5B911B-67CD-483F-834F-033DEAE1BCB6}" type="presOf" srcId="{857E80D8-3D77-449B-A60E-84BC42049766}" destId="{93CFFA77-9DCD-4ECE-9AEF-A16C53992C90}" srcOrd="0" destOrd="1" presId="urn:microsoft.com/office/officeart/2005/8/layout/chevron2"/>
    <dgm:cxn modelId="{BC0DC929-7F4B-49F6-B9B5-E3BF6E538413}" srcId="{99C24BB3-71D0-45A7-95DE-B9A6B80D3BC9}" destId="{6F18F8EA-EE01-4D9B-9E2D-4658AEFE1792}" srcOrd="0" destOrd="0" parTransId="{E9D48A32-2815-402B-BADA-4B03FA79FF9B}" sibTransId="{89F30C73-62BA-4D28-9A43-E25D752DDB4F}"/>
    <dgm:cxn modelId="{EA945031-CAC7-4528-8B01-9E8D52D34767}" type="presOf" srcId="{1ED0404C-1481-4179-A187-78764822F2C2}" destId="{0658B53A-EDE6-456F-A213-1AE2B118D67D}" srcOrd="0" destOrd="1" presId="urn:microsoft.com/office/officeart/2005/8/layout/chevron2"/>
    <dgm:cxn modelId="{E2119663-6A7E-4CB5-A64E-8E66B9E497C7}" srcId="{AF0A73F6-DE7D-4AD4-9D22-815A9BA754FF}" destId="{CE11ECE7-E714-44BC-915F-5ABC3C05B642}" srcOrd="0" destOrd="0" parTransId="{C83123C0-E8DE-49C0-AE6F-D94FE38B4A26}" sibTransId="{B912C39C-57BD-4A2C-B7D0-8124F7C120C1}"/>
    <dgm:cxn modelId="{BDAD1D8D-D446-4C5C-99D8-B0CA61BA4262}" srcId="{3AC0D1E7-5C5E-447A-8D01-3E9D529B1D4F}" destId="{B1B6AB4C-F9E7-4883-9774-91484A4EF2A1}" srcOrd="0" destOrd="0" parTransId="{04A6CD89-E809-44C8-A465-66196830ABE0}" sibTransId="{7F89E86D-B4DE-486B-AB89-A24FECAD83A2}"/>
    <dgm:cxn modelId="{78B8E396-38BA-481E-9B0C-D2312C7D98AC}" type="presOf" srcId="{B1B268D7-48B3-4979-84B8-184E91B8A1A3}" destId="{93CFFA77-9DCD-4ECE-9AEF-A16C53992C90}" srcOrd="0" destOrd="0" presId="urn:microsoft.com/office/officeart/2005/8/layout/chevron2"/>
    <dgm:cxn modelId="{7306BDA3-478E-4825-AA41-E1BBAB48299A}" srcId="{99C24BB3-71D0-45A7-95DE-B9A6B80D3BC9}" destId="{3AC0D1E7-5C5E-447A-8D01-3E9D529B1D4F}" srcOrd="1" destOrd="0" parTransId="{646C05D3-372B-49A0-A390-F493D83DE1F0}" sibTransId="{E60255F8-AB26-47E5-915A-2D6F0D269D34}"/>
    <dgm:cxn modelId="{4BC1E5A9-9B2C-44F2-8B95-D0D52A5EBF13}" type="presOf" srcId="{39E1D256-DB48-4D2E-8CCD-59ADC40648B9}" destId="{3E614445-D26A-407E-811A-4F6278346696}" srcOrd="0" destOrd="1" presId="urn:microsoft.com/office/officeart/2005/8/layout/chevron2"/>
    <dgm:cxn modelId="{7A32D2AA-074E-42EC-9C97-790A6BD00ACE}" srcId="{6F18F8EA-EE01-4D9B-9E2D-4658AEFE1792}" destId="{857E80D8-3D77-449B-A60E-84BC42049766}" srcOrd="1" destOrd="0" parTransId="{6EBE4CAF-4222-46B7-8508-DF38FCD81ABF}" sibTransId="{91F5CA1C-3EF4-4B49-8942-FBA6D2CD0393}"/>
    <dgm:cxn modelId="{723586C7-BDF1-41CE-ACAB-B7503999A6A5}" srcId="{3AC0D1E7-5C5E-447A-8D01-3E9D529B1D4F}" destId="{39E1D256-DB48-4D2E-8CCD-59ADC40648B9}" srcOrd="1" destOrd="0" parTransId="{BC5F85A9-539C-49BA-A626-C7940FC2EB4D}" sibTransId="{6F1134A6-F0C0-4382-9A4A-6F9C3290F6AD}"/>
    <dgm:cxn modelId="{AACC60D8-E487-4A92-A24F-3293842C62A8}" srcId="{AF0A73F6-DE7D-4AD4-9D22-815A9BA754FF}" destId="{1ED0404C-1481-4179-A187-78764822F2C2}" srcOrd="1" destOrd="0" parTransId="{5C297764-08E4-4A06-A516-188ABB2C5C2F}" sibTransId="{71B4EEF7-509B-414B-88EE-33690F8FABA0}"/>
    <dgm:cxn modelId="{A01C81E1-4C7A-4E35-9609-0EBFFA66078F}" srcId="{6F18F8EA-EE01-4D9B-9E2D-4658AEFE1792}" destId="{B1B268D7-48B3-4979-84B8-184E91B8A1A3}" srcOrd="0" destOrd="0" parTransId="{3FCE1691-FC9A-42A3-82FA-E53213467AED}" sibTransId="{F9FE84A6-1ECB-480A-A627-FCB6593A9DC4}"/>
    <dgm:cxn modelId="{71CCE2E3-0EE0-45F7-8A51-2B2E970C35DA}" type="presOf" srcId="{3AC0D1E7-5C5E-447A-8D01-3E9D529B1D4F}" destId="{813F78FF-46A0-4428-B95B-2EE9B67EC582}" srcOrd="0" destOrd="0" presId="urn:microsoft.com/office/officeart/2005/8/layout/chevron2"/>
    <dgm:cxn modelId="{FD2CABFA-A45D-46A9-A67B-14BC052E0A84}" type="presOf" srcId="{99C24BB3-71D0-45A7-95DE-B9A6B80D3BC9}" destId="{0016843D-B160-4C78-B8E9-A101281FBDE8}" srcOrd="0" destOrd="0" presId="urn:microsoft.com/office/officeart/2005/8/layout/chevron2"/>
    <dgm:cxn modelId="{B2CD47FB-A856-47A0-B922-D547DEE4AFA3}" srcId="{99C24BB3-71D0-45A7-95DE-B9A6B80D3BC9}" destId="{AF0A73F6-DE7D-4AD4-9D22-815A9BA754FF}" srcOrd="2" destOrd="0" parTransId="{21E7AD26-C69A-4222-A028-C82D37B92A5C}" sibTransId="{7D8E1DE3-6EDE-48A9-91A1-8EF567FD0BC8}"/>
    <dgm:cxn modelId="{53F736FF-4471-4522-BD82-05A7C0C76341}" type="presOf" srcId="{B1B6AB4C-F9E7-4883-9774-91484A4EF2A1}" destId="{3E614445-D26A-407E-811A-4F6278346696}" srcOrd="0" destOrd="0" presId="urn:microsoft.com/office/officeart/2005/8/layout/chevron2"/>
    <dgm:cxn modelId="{B37278EF-4F53-414C-84E9-E49EF5386987}" type="presParOf" srcId="{0016843D-B160-4C78-B8E9-A101281FBDE8}" destId="{0D88E0FC-0DFB-4F03-B0AF-FB460563795B}" srcOrd="0" destOrd="0" presId="urn:microsoft.com/office/officeart/2005/8/layout/chevron2"/>
    <dgm:cxn modelId="{81FAFFEE-DDA0-41B1-88E4-E921789E8C45}" type="presParOf" srcId="{0D88E0FC-0DFB-4F03-B0AF-FB460563795B}" destId="{08B7BEA5-9802-4559-9408-37C0DB4EDC38}" srcOrd="0" destOrd="0" presId="urn:microsoft.com/office/officeart/2005/8/layout/chevron2"/>
    <dgm:cxn modelId="{01A4674B-614F-4959-BA7F-FE8DD0D7353A}" type="presParOf" srcId="{0D88E0FC-0DFB-4F03-B0AF-FB460563795B}" destId="{93CFFA77-9DCD-4ECE-9AEF-A16C53992C90}" srcOrd="1" destOrd="0" presId="urn:microsoft.com/office/officeart/2005/8/layout/chevron2"/>
    <dgm:cxn modelId="{809384B5-DBA6-412B-ADB3-4105477950EA}" type="presParOf" srcId="{0016843D-B160-4C78-B8E9-A101281FBDE8}" destId="{39F28F8B-9F61-4916-811A-E3635E276EEE}" srcOrd="1" destOrd="0" presId="urn:microsoft.com/office/officeart/2005/8/layout/chevron2"/>
    <dgm:cxn modelId="{2A20C3DE-E640-4E2F-AA85-B30AACD4DCCB}" type="presParOf" srcId="{0016843D-B160-4C78-B8E9-A101281FBDE8}" destId="{86FE27F7-9A68-4A8C-B16B-FE6C3292E6EE}" srcOrd="2" destOrd="0" presId="urn:microsoft.com/office/officeart/2005/8/layout/chevron2"/>
    <dgm:cxn modelId="{F0BBF221-E173-4CBC-9EA2-8C434C80C414}" type="presParOf" srcId="{86FE27F7-9A68-4A8C-B16B-FE6C3292E6EE}" destId="{813F78FF-46A0-4428-B95B-2EE9B67EC582}" srcOrd="0" destOrd="0" presId="urn:microsoft.com/office/officeart/2005/8/layout/chevron2"/>
    <dgm:cxn modelId="{D47FBA59-84A0-42F4-8027-023490293DFE}" type="presParOf" srcId="{86FE27F7-9A68-4A8C-B16B-FE6C3292E6EE}" destId="{3E614445-D26A-407E-811A-4F6278346696}" srcOrd="1" destOrd="0" presId="urn:microsoft.com/office/officeart/2005/8/layout/chevron2"/>
    <dgm:cxn modelId="{8474B130-0B68-4241-AB3F-48BE1733FC42}" type="presParOf" srcId="{0016843D-B160-4C78-B8E9-A101281FBDE8}" destId="{7155AE4B-DFD4-4895-B8CD-063ECAED3525}" srcOrd="3" destOrd="0" presId="urn:microsoft.com/office/officeart/2005/8/layout/chevron2"/>
    <dgm:cxn modelId="{96D84276-2975-4A71-A889-4D337FE97DA9}" type="presParOf" srcId="{0016843D-B160-4C78-B8E9-A101281FBDE8}" destId="{680FB367-1E22-457D-9AE0-9CB1B2B2C03A}" srcOrd="4" destOrd="0" presId="urn:microsoft.com/office/officeart/2005/8/layout/chevron2"/>
    <dgm:cxn modelId="{F3B207F7-B118-4B48-A961-F98C5D5E2079}" type="presParOf" srcId="{680FB367-1E22-457D-9AE0-9CB1B2B2C03A}" destId="{8707C0AB-D5F6-44A2-A23F-B781F3F4283E}" srcOrd="0" destOrd="0" presId="urn:microsoft.com/office/officeart/2005/8/layout/chevron2"/>
    <dgm:cxn modelId="{516A6218-5F31-4C6D-9718-694D4CC5E221}" type="presParOf" srcId="{680FB367-1E22-457D-9AE0-9CB1B2B2C03A}" destId="{0658B53A-EDE6-456F-A213-1AE2B118D67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7BEA5-9802-4559-9408-37C0DB4EDC38}">
      <dsp:nvSpPr>
        <dsp:cNvPr id="0" name=""/>
        <dsp:cNvSpPr/>
      </dsp:nvSpPr>
      <dsp:spPr>
        <a:xfrm rot="5400000">
          <a:off x="-262718" y="264852"/>
          <a:ext cx="1751458" cy="1226021"/>
        </a:xfrm>
        <a:prstGeom prst="chevron">
          <a:avLst/>
        </a:prstGeom>
        <a:solidFill>
          <a:srgbClr val="66AEBA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Import dati</a:t>
          </a:r>
        </a:p>
      </dsp:txBody>
      <dsp:txXfrm rot="-5400000">
        <a:off x="1" y="615145"/>
        <a:ext cx="1226021" cy="525437"/>
      </dsp:txXfrm>
    </dsp:sp>
    <dsp:sp modelId="{93CFFA77-9DCD-4ECE-9AEF-A16C53992C90}">
      <dsp:nvSpPr>
        <dsp:cNvPr id="0" name=""/>
        <dsp:cNvSpPr/>
      </dsp:nvSpPr>
      <dsp:spPr>
        <a:xfrm rot="5400000">
          <a:off x="3129886" y="-1901731"/>
          <a:ext cx="1138448" cy="49461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700" kern="1200" dirty="0"/>
            <a:t>Creazione split;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700" kern="1200" dirty="0"/>
            <a:t>Standardizzazione dei dati;</a:t>
          </a:r>
        </a:p>
      </dsp:txBody>
      <dsp:txXfrm rot="-5400000">
        <a:off x="1226021" y="57708"/>
        <a:ext cx="4890604" cy="1027300"/>
      </dsp:txXfrm>
    </dsp:sp>
    <dsp:sp modelId="{813F78FF-46A0-4428-B95B-2EE9B67EC582}">
      <dsp:nvSpPr>
        <dsp:cNvPr id="0" name=""/>
        <dsp:cNvSpPr/>
      </dsp:nvSpPr>
      <dsp:spPr>
        <a:xfrm rot="5400000">
          <a:off x="-262718" y="1823801"/>
          <a:ext cx="1751458" cy="1226021"/>
        </a:xfrm>
        <a:prstGeom prst="chevron">
          <a:avLst/>
        </a:prstGeom>
        <a:solidFill>
          <a:srgbClr val="66AEBA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Allenamento sul </a:t>
          </a:r>
          <a:r>
            <a:rPr lang="it-IT" sz="1700" kern="1200" dirty="0" err="1"/>
            <a:t>train</a:t>
          </a:r>
          <a:r>
            <a:rPr lang="it-IT" sz="1700" kern="1200" dirty="0"/>
            <a:t> set</a:t>
          </a:r>
        </a:p>
      </dsp:txBody>
      <dsp:txXfrm rot="-5400000">
        <a:off x="1" y="2174094"/>
        <a:ext cx="1226021" cy="525437"/>
      </dsp:txXfrm>
    </dsp:sp>
    <dsp:sp modelId="{3E614445-D26A-407E-811A-4F6278346696}">
      <dsp:nvSpPr>
        <dsp:cNvPr id="0" name=""/>
        <dsp:cNvSpPr/>
      </dsp:nvSpPr>
      <dsp:spPr>
        <a:xfrm rot="5400000">
          <a:off x="3129886" y="-342782"/>
          <a:ext cx="1138448" cy="49461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700" kern="1200" dirty="0"/>
            <a:t>Uso di </a:t>
          </a:r>
          <a:r>
            <a:rPr lang="it-IT" sz="2700" kern="1200" dirty="0" err="1"/>
            <a:t>GridSearch</a:t>
          </a:r>
          <a:r>
            <a:rPr lang="it-IT" sz="2700" kern="1200" dirty="0"/>
            <a:t> con CV;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700" kern="1200" dirty="0"/>
            <a:t>Valutazione sul </a:t>
          </a:r>
          <a:r>
            <a:rPr lang="it-IT" sz="2700" kern="1200" dirty="0" err="1"/>
            <a:t>validation</a:t>
          </a:r>
          <a:r>
            <a:rPr lang="it-IT" sz="2700" kern="1200" dirty="0"/>
            <a:t> set;</a:t>
          </a:r>
        </a:p>
      </dsp:txBody>
      <dsp:txXfrm rot="-5400000">
        <a:off x="1226021" y="1616657"/>
        <a:ext cx="4890604" cy="1027300"/>
      </dsp:txXfrm>
    </dsp:sp>
    <dsp:sp modelId="{8707C0AB-D5F6-44A2-A23F-B781F3F4283E}">
      <dsp:nvSpPr>
        <dsp:cNvPr id="0" name=""/>
        <dsp:cNvSpPr/>
      </dsp:nvSpPr>
      <dsp:spPr>
        <a:xfrm rot="5400000">
          <a:off x="-262718" y="3382750"/>
          <a:ext cx="1751458" cy="1226021"/>
        </a:xfrm>
        <a:prstGeom prst="chevron">
          <a:avLst/>
        </a:prstGeom>
        <a:solidFill>
          <a:srgbClr val="66AEBA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Confronto metriche</a:t>
          </a:r>
          <a:endParaRPr lang="it-IT" sz="1700" kern="1200" dirty="0"/>
        </a:p>
      </dsp:txBody>
      <dsp:txXfrm rot="-5400000">
        <a:off x="1" y="3733043"/>
        <a:ext cx="1226021" cy="525437"/>
      </dsp:txXfrm>
    </dsp:sp>
    <dsp:sp modelId="{0658B53A-EDE6-456F-A213-1AE2B118D67D}">
      <dsp:nvSpPr>
        <dsp:cNvPr id="0" name=""/>
        <dsp:cNvSpPr/>
      </dsp:nvSpPr>
      <dsp:spPr>
        <a:xfrm rot="5400000">
          <a:off x="3129886" y="1216166"/>
          <a:ext cx="1138448" cy="49461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700" kern="1200" dirty="0"/>
            <a:t>Selezione modello migliore;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700" kern="1200" dirty="0"/>
            <a:t>Analisi risultati.</a:t>
          </a:r>
        </a:p>
      </dsp:txBody>
      <dsp:txXfrm rot="-5400000">
        <a:off x="1226021" y="3175605"/>
        <a:ext cx="4890604" cy="1027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76F38-FD12-4BFF-B32B-7CA346BABA5D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A589F-D8EE-43F7-9F84-B4E14E007D1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929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9A589F-D8EE-43F7-9F84-B4E14E007D1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9690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A1114F-E405-3FF1-BFF9-B0BD189BD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07468BC-C259-4770-19DF-E8B3468FF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00B994-8BE4-AC78-A365-8AA39321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8C9B7E6-8227-0365-CAC6-4D2618FE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385C84-FACE-A22D-2FD0-1B7904C4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5714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EF7BE7-BE79-ADBB-674A-8B875BD4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0629DE-153D-5338-75DF-348EBED82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373AEE-CB46-C12B-1E1B-4B2FE465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8CF924-78B4-551A-3D67-6E57D6CF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7B5F99-E9DD-D63F-55DD-5B8B39C4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311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688F2D-8183-0DA4-A1C1-FB4E60F4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DEA7D4-942A-2D1F-6E51-D450C3F05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38E488-97B1-060A-0544-C04DBA99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1C1A63-0BDE-1008-945A-41225632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15CC22-5C5B-356A-3FA1-446FF591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29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AD6813-F692-ED76-E29D-92AD890EA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9E2D3D-0337-196D-9ACF-811E7DC61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85F9F26-0CA0-7B5C-87D0-18DD7E4BA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0EF5893-2186-174A-8BA8-94769D62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F5E1381-420B-D135-663A-0CD10B8A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4504742-E7DD-ACEF-9343-08DD04B4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050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5552DF-8B44-03B4-E25C-D902E470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87ED00-3C1A-9027-184E-AB172E911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E9D7C0-C9FE-6A0E-390D-943254099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481ABE-6859-7C47-1540-D89E30299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75AA768-DAB6-7343-A493-82DD594DC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3504A3B-BB97-94F2-2317-7E942949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C1D6ACC-29FA-B3CB-C76E-7A8D2B3E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584FF00-379F-81B2-ACB1-A92AF061B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461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9BB32E-B369-4B8C-1DEE-50FD0EC5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C2A61B7-3449-2C01-E46E-0762C24A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929FD9-CD31-41CD-0608-C35716D2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828AE3B-5080-C288-5CDB-4836E822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773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44B75F4-6903-A2BB-8FFE-B0042023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3DCC531-9C8C-8E9A-385D-AADFB16B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5FD78AB-BD6D-22E1-3731-512C241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241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097679-1AA3-A671-9B78-F271E760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C611BB-5F51-F4AE-EDD4-FF6B623F3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DBAA183-ED6B-EC66-92E0-637284C62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EC07241-45B1-E3D1-7424-DCF65A1A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7723BEF-99D6-4BBA-A432-4A937A94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F9029AC-DF28-8653-346E-B90D2A1E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358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B9B6F8-F794-034A-B354-F2204591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D5AA99A-125C-8478-1E4B-9BA10AD7C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6B5ED25-FFA4-E428-08A5-CF6E89FFD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AEBB03-406C-E326-4D47-C9F424DB6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8518375-378B-1B11-F1A5-1248C99A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A626E5-2551-FF3C-8649-AA51FC18F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8510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B4793-4995-D7C5-7997-BC28E1DE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19B1710-D927-D0BF-B314-CF5C90C95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636DF0-C6C3-8728-4D52-E491D45C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16B602-D071-D114-AE96-61B71290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472F50-01E6-99FA-5CA7-1F2DECDC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977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417927F-8258-0FE5-1B2B-48423C653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3929A97-18F3-DB3C-A138-DA8BB58B5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0DF993-D4A5-3960-CB6E-C8562C772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2B76099-579C-420D-4D75-4AADC5DE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E88690-6DFB-5B6F-E81D-B2E6116B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615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00A8873-1F7F-8ECF-6A10-A5E40E2F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07D6576-BA77-2CF5-2658-9E7201D78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631EBA-7EDE-515C-6550-7248991D0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4E21A-0475-4E13-823F-6142715D20D2}" type="datetimeFigureOut">
              <a:rPr lang="it-IT" smtClean="0"/>
              <a:t>02/05/2025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B12517-0431-43B7-79B0-A72A50DD7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C9A5D8-0733-46C3-94B5-62A9AEDBD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6143A-C3EA-4B50-8340-B38E03D107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372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1408FA-5AE9-BAE3-D1D8-0E5087EA73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66AEBA"/>
                </a:solidFill>
              </a:rPr>
              <a:t>ML - HOMEWORK 2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DD7BFA0-685A-D68C-2444-7E1C33C9D7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>
                <a:solidFill>
                  <a:schemeClr val="accent1"/>
                </a:solidFill>
              </a:rPr>
              <a:t>Classificazione su Cifar10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95E9F5E-2882-BB86-0C0D-B5F879934693}"/>
              </a:ext>
            </a:extLst>
          </p:cNvPr>
          <p:cNvSpPr/>
          <p:nvPr/>
        </p:nvSpPr>
        <p:spPr>
          <a:xfrm>
            <a:off x="0" y="432619"/>
            <a:ext cx="12192000" cy="41295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F377690-C2F1-7C7E-1ED8-4919ED2551CE}"/>
              </a:ext>
            </a:extLst>
          </p:cNvPr>
          <p:cNvSpPr/>
          <p:nvPr/>
        </p:nvSpPr>
        <p:spPr>
          <a:xfrm>
            <a:off x="0" y="4689987"/>
            <a:ext cx="12192000" cy="2168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933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B281261-3876-4E67-BA0C-A8CC1E39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it-IT" sz="4800" b="1" dirty="0">
                <a:solidFill>
                  <a:srgbClr val="66AEBA"/>
                </a:solidFill>
              </a:rPr>
              <a:t>Cifar10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CBDD85-2C84-D869-24B5-4D8DD788C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it-IT" sz="2000" dirty="0"/>
              <a:t>Cifar10 è un dataset che contiene </a:t>
            </a:r>
            <a:r>
              <a:rPr lang="it-IT" sz="2000" b="1" dirty="0">
                <a:solidFill>
                  <a:schemeClr val="accent1"/>
                </a:solidFill>
              </a:rPr>
              <a:t>60000 immagini</a:t>
            </a:r>
            <a:r>
              <a:rPr lang="it-IT" sz="2000" dirty="0"/>
              <a:t>, 32x32, a colori.</a:t>
            </a:r>
          </a:p>
          <a:p>
            <a:r>
              <a:rPr lang="it-IT" sz="2000" dirty="0"/>
              <a:t>Le immagini sono divise in </a:t>
            </a:r>
            <a:r>
              <a:rPr lang="it-IT" sz="2000" b="1" dirty="0">
                <a:solidFill>
                  <a:schemeClr val="accent1"/>
                </a:solidFill>
              </a:rPr>
              <a:t>10 classi </a:t>
            </a:r>
            <a:r>
              <a:rPr lang="it-IT" sz="2000" dirty="0"/>
              <a:t>differenti; i dati sono inoltre divisi in una </a:t>
            </a:r>
            <a:r>
              <a:rPr lang="it-IT" sz="2000" b="1" dirty="0">
                <a:solidFill>
                  <a:schemeClr val="accent1"/>
                </a:solidFill>
              </a:rPr>
              <a:t>porzione di training </a:t>
            </a:r>
            <a:r>
              <a:rPr lang="it-IT" sz="2000" dirty="0"/>
              <a:t>(contenente 50.000 osservazioni), ed in una </a:t>
            </a:r>
            <a:r>
              <a:rPr lang="it-IT" sz="2000" b="1" dirty="0">
                <a:solidFill>
                  <a:schemeClr val="accent1"/>
                </a:solidFill>
              </a:rPr>
              <a:t>porzione di test </a:t>
            </a:r>
            <a:r>
              <a:rPr lang="it-IT" sz="2000" dirty="0"/>
              <a:t>(con 10.000 osservazioni); vi è un ulteriore divisione in 6 batch da 10.000 dati, 5 di training ed uno di test.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02FCB44-6348-F29D-80DD-816046DD75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530"/>
          <a:stretch/>
        </p:blipFill>
        <p:spPr>
          <a:xfrm>
            <a:off x="5895504" y="2479952"/>
            <a:ext cx="5150277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167ACBC-7E2C-3069-ED6C-FF6CE5293CE6}"/>
              </a:ext>
            </a:extLst>
          </p:cNvPr>
          <p:cNvSpPr/>
          <p:nvPr/>
        </p:nvSpPr>
        <p:spPr>
          <a:xfrm>
            <a:off x="0" y="1858297"/>
            <a:ext cx="11695081" cy="344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DEFD20E-358E-3437-3E95-EEB99A229755}"/>
              </a:ext>
            </a:extLst>
          </p:cNvPr>
          <p:cNvSpPr/>
          <p:nvPr/>
        </p:nvSpPr>
        <p:spPr>
          <a:xfrm>
            <a:off x="11383362" y="1858296"/>
            <a:ext cx="311719" cy="101272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254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B2FA04-4343-B930-685D-97EB4B3D7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600" b="1" dirty="0">
                <a:solidFill>
                  <a:srgbClr val="66AEBA"/>
                </a:solidFill>
                <a:latin typeface="+mn-lt"/>
              </a:rPr>
              <a:t>Descrizione del problema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1930C8-DC9B-E246-F9B0-06ABA2240A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Si tratta dunque un problema di </a:t>
            </a:r>
            <a:r>
              <a:rPr lang="it-IT" dirty="0">
                <a:solidFill>
                  <a:schemeClr val="accent1"/>
                </a:solidFill>
              </a:rPr>
              <a:t>classificazione multi classe</a:t>
            </a:r>
            <a:r>
              <a:rPr lang="it-IT" dirty="0"/>
              <a:t>.</a:t>
            </a:r>
          </a:p>
          <a:p>
            <a:r>
              <a:rPr lang="it-IT" dirty="0"/>
              <a:t>Per poterlo risolvere al meglio, è conveniente provare ad utilizzare </a:t>
            </a:r>
            <a:r>
              <a:rPr lang="it-IT" dirty="0">
                <a:solidFill>
                  <a:srgbClr val="0070C0"/>
                </a:solidFill>
              </a:rPr>
              <a:t>diverse metodologie</a:t>
            </a:r>
            <a:r>
              <a:rPr lang="it-IT" dirty="0"/>
              <a:t>, testando dunque più modelli, per vedere quale mostra i risultati migliori.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66D881D-D6DD-FEB6-9CEF-781B5B9B4F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I modelli testati sono:</a:t>
            </a:r>
          </a:p>
          <a:p>
            <a:pPr lvl="1"/>
            <a:r>
              <a:rPr lang="it-IT" dirty="0"/>
              <a:t>KNN;</a:t>
            </a:r>
          </a:p>
          <a:p>
            <a:pPr lvl="1"/>
            <a:r>
              <a:rPr lang="it-IT" dirty="0"/>
              <a:t>SVM;</a:t>
            </a:r>
          </a:p>
          <a:p>
            <a:pPr lvl="1"/>
            <a:r>
              <a:rPr lang="it-IT" dirty="0"/>
              <a:t>Regressione Logistica;</a:t>
            </a:r>
          </a:p>
          <a:p>
            <a:pPr lvl="1"/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50C0089-B9ED-3C25-6AE4-BCD78E68CA17}"/>
              </a:ext>
            </a:extLst>
          </p:cNvPr>
          <p:cNvSpPr/>
          <p:nvPr/>
        </p:nvSpPr>
        <p:spPr>
          <a:xfrm>
            <a:off x="0" y="1327355"/>
            <a:ext cx="12192000" cy="363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DEE19A0-5CC6-75FC-8E6F-C0A83060E88A}"/>
              </a:ext>
            </a:extLst>
          </p:cNvPr>
          <p:cNvSpPr/>
          <p:nvPr/>
        </p:nvSpPr>
        <p:spPr>
          <a:xfrm>
            <a:off x="6172200" y="4449097"/>
            <a:ext cx="6019800" cy="24138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2685C23-CB4D-6AD9-F950-F55828797F06}"/>
              </a:ext>
            </a:extLst>
          </p:cNvPr>
          <p:cNvSpPr/>
          <p:nvPr/>
        </p:nvSpPr>
        <p:spPr>
          <a:xfrm>
            <a:off x="0" y="5604387"/>
            <a:ext cx="6172200" cy="125361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9973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AD64F2-26D4-B640-AE96-E8A59D644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66AEBA"/>
                </a:solidFill>
              </a:rPr>
              <a:t>Descrizione della metodologia utilizzata</a:t>
            </a:r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E8AD38A0-365C-6179-AF32-D69722D30F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8106497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C4CB123-C479-3EF8-8414-0B782BEAC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it-IT" dirty="0"/>
              <a:t>Per poter risolvere il problema si procede con i seguenti passaggi: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Import del dataset </a:t>
            </a:r>
            <a:r>
              <a:rPr lang="it-IT" dirty="0">
                <a:solidFill>
                  <a:schemeClr val="accent1"/>
                </a:solidFill>
              </a:rPr>
              <a:t>e </a:t>
            </a:r>
            <a:r>
              <a:rPr lang="it-IT" b="1" dirty="0">
                <a:solidFill>
                  <a:schemeClr val="accent1"/>
                </a:solidFill>
              </a:rPr>
              <a:t>divisione</a:t>
            </a:r>
            <a:r>
              <a:rPr lang="it-IT" dirty="0">
                <a:solidFill>
                  <a:schemeClr val="accent1"/>
                </a:solidFill>
              </a:rPr>
              <a:t> </a:t>
            </a:r>
            <a:r>
              <a:rPr lang="it-IT" b="1" dirty="0">
                <a:solidFill>
                  <a:schemeClr val="accent1"/>
                </a:solidFill>
              </a:rPr>
              <a:t>in</a:t>
            </a:r>
            <a:r>
              <a:rPr lang="it-IT" dirty="0">
                <a:solidFill>
                  <a:schemeClr val="accent1"/>
                </a:solidFill>
              </a:rPr>
              <a:t> </a:t>
            </a:r>
            <a:r>
              <a:rPr lang="it-IT" b="1" dirty="0">
                <a:solidFill>
                  <a:schemeClr val="accent1"/>
                </a:solidFill>
              </a:rPr>
              <a:t>split</a:t>
            </a:r>
            <a:r>
              <a:rPr lang="it-IT" dirty="0"/>
              <a:t>;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b="1" dirty="0" err="1">
                <a:solidFill>
                  <a:schemeClr val="accent1"/>
                </a:solidFill>
              </a:rPr>
              <a:t>Pre</a:t>
            </a:r>
            <a:r>
              <a:rPr lang="it-IT" b="1" dirty="0">
                <a:solidFill>
                  <a:schemeClr val="accent1"/>
                </a:solidFill>
              </a:rPr>
              <a:t>-processing</a:t>
            </a:r>
            <a:r>
              <a:rPr lang="it-IT" dirty="0"/>
              <a:t> dei dati;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b="1" dirty="0">
                <a:solidFill>
                  <a:schemeClr val="accent1"/>
                </a:solidFill>
              </a:rPr>
              <a:t>Allenamento</a:t>
            </a:r>
            <a:r>
              <a:rPr lang="it-IT" dirty="0"/>
              <a:t> dei modelli sulla porzione di </a:t>
            </a:r>
            <a:r>
              <a:rPr lang="it-IT" dirty="0" err="1">
                <a:solidFill>
                  <a:schemeClr val="accent1"/>
                </a:solidFill>
              </a:rPr>
              <a:t>train</a:t>
            </a:r>
            <a:r>
              <a:rPr lang="it-IT" dirty="0"/>
              <a:t>;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b="1" dirty="0">
                <a:solidFill>
                  <a:schemeClr val="accent1"/>
                </a:solidFill>
              </a:rPr>
              <a:t>Ricerca degli </a:t>
            </a:r>
            <a:r>
              <a:rPr lang="it-IT" b="1" dirty="0" err="1">
                <a:solidFill>
                  <a:schemeClr val="accent1"/>
                </a:solidFill>
              </a:rPr>
              <a:t>iperparametri</a:t>
            </a:r>
            <a:r>
              <a:rPr lang="it-IT" b="1" dirty="0">
                <a:solidFill>
                  <a:schemeClr val="accent1"/>
                </a:solidFill>
              </a:rPr>
              <a:t> migliori </a:t>
            </a:r>
            <a:r>
              <a:rPr lang="it-IT" dirty="0"/>
              <a:t>per ogni modello (tramite </a:t>
            </a:r>
            <a:r>
              <a:rPr lang="it-IT" dirty="0" err="1"/>
              <a:t>Grid</a:t>
            </a:r>
            <a:r>
              <a:rPr lang="it-IT" dirty="0"/>
              <a:t> </a:t>
            </a:r>
            <a:r>
              <a:rPr lang="it-IT" dirty="0" err="1"/>
              <a:t>Search</a:t>
            </a:r>
            <a:r>
              <a:rPr lang="it-IT" dirty="0"/>
              <a:t> e Cross </a:t>
            </a:r>
            <a:r>
              <a:rPr lang="it-IT" dirty="0" err="1"/>
              <a:t>Valifation</a:t>
            </a:r>
            <a:r>
              <a:rPr lang="it-IT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b="1" dirty="0">
                <a:solidFill>
                  <a:schemeClr val="accent1"/>
                </a:solidFill>
              </a:rPr>
              <a:t>Valutazione delle prestazioni </a:t>
            </a:r>
            <a:r>
              <a:rPr lang="it-IT" dirty="0"/>
              <a:t>dei modelli sulle metriche stabilite;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Confronto dei risultati ottenuti per </a:t>
            </a:r>
            <a:r>
              <a:rPr lang="it-IT" b="1" dirty="0">
                <a:solidFill>
                  <a:schemeClr val="accent1"/>
                </a:solidFill>
              </a:rPr>
              <a:t>stabilire il modello migliore;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/>
              <a:t>Valutazione sul test set.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450B2EE-750F-4B41-0330-DD6A06ADF789}"/>
              </a:ext>
            </a:extLst>
          </p:cNvPr>
          <p:cNvSpPr/>
          <p:nvPr/>
        </p:nvSpPr>
        <p:spPr>
          <a:xfrm>
            <a:off x="0" y="6056671"/>
            <a:ext cx="12192000" cy="501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2548A0B-E556-A8A7-A80C-2CE1F24A1072}"/>
              </a:ext>
            </a:extLst>
          </p:cNvPr>
          <p:cNvSpPr/>
          <p:nvPr/>
        </p:nvSpPr>
        <p:spPr>
          <a:xfrm>
            <a:off x="98323" y="299884"/>
            <a:ext cx="12093677" cy="15731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94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C4DE1C-B860-2D8B-3889-CF7E8B29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66" y="501445"/>
            <a:ext cx="3932237" cy="1600200"/>
          </a:xfrm>
        </p:spPr>
        <p:txBody>
          <a:bodyPr/>
          <a:lstStyle/>
          <a:p>
            <a:r>
              <a:rPr lang="it-IT" b="1" dirty="0">
                <a:solidFill>
                  <a:srgbClr val="66AEBA"/>
                </a:solidFill>
              </a:rPr>
              <a:t>Risultati ottenuti dai modelli.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B28A288-83F6-50D4-239C-4D6C13E18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66" y="2155723"/>
            <a:ext cx="3932237" cy="3811588"/>
          </a:xfrm>
        </p:spPr>
        <p:txBody>
          <a:bodyPr/>
          <a:lstStyle/>
          <a:p>
            <a:r>
              <a:rPr lang="it-IT" dirty="0"/>
              <a:t>I risultati ottenuti sono stati valutati a partire da quattro metriche diverse.</a:t>
            </a:r>
          </a:p>
          <a:p>
            <a:r>
              <a:rPr lang="it-IT" dirty="0"/>
              <a:t>In generale poi, la fase di model </a:t>
            </a:r>
            <a:r>
              <a:rPr lang="it-IT" dirty="0" err="1"/>
              <a:t>selection</a:t>
            </a:r>
            <a:r>
              <a:rPr lang="it-IT" dirty="0"/>
              <a:t> è basata sull’</a:t>
            </a:r>
            <a:r>
              <a:rPr lang="it-IT" dirty="0" err="1"/>
              <a:t>accuracy</a:t>
            </a:r>
            <a:r>
              <a:rPr lang="it-IT" dirty="0"/>
              <a:t>, che fornisce una panoramica generale sulle prestazioni del modello. </a:t>
            </a:r>
          </a:p>
          <a:p>
            <a:r>
              <a:rPr lang="it-IT" dirty="0"/>
              <a:t>Una soluzione alternativa è presente e dettagliata nel  </a:t>
            </a:r>
            <a:r>
              <a:rPr lang="it-IT" dirty="0" err="1"/>
              <a:t>markdown</a:t>
            </a:r>
            <a:r>
              <a:rPr lang="it-IT" dirty="0"/>
              <a:t> del notebook.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77E5E0C-E32D-A25D-6E7C-47D00B353706}"/>
              </a:ext>
            </a:extLst>
          </p:cNvPr>
          <p:cNvSpPr/>
          <p:nvPr/>
        </p:nvSpPr>
        <p:spPr>
          <a:xfrm>
            <a:off x="0" y="0"/>
            <a:ext cx="11562735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FC668DE-9A56-D996-C346-8B8039A64121}"/>
              </a:ext>
            </a:extLst>
          </p:cNvPr>
          <p:cNvSpPr/>
          <p:nvPr/>
        </p:nvSpPr>
        <p:spPr>
          <a:xfrm>
            <a:off x="11562734" y="0"/>
            <a:ext cx="629265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ECE2D91F-1FE5-39B2-DEFB-679D38C7B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735" y="1951191"/>
            <a:ext cx="7265806" cy="3412818"/>
          </a:xfrm>
          <a:prstGeom prst="rect">
            <a:avLst/>
          </a:prstGeom>
        </p:spPr>
      </p:pic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ACD9DE31-D5B9-4C93-9F4E-EFE0900EC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15538" y="992187"/>
            <a:ext cx="6172200" cy="4873625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425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5B175C-FCAE-8063-A922-BAF374DB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66AEBA"/>
                </a:solidFill>
              </a:rPr>
              <a:t>Discussione dei risultati.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EE6910-0371-F780-03AC-898DC015B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EDDD15C-66B8-192B-3291-55C0BEF3C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it-IT" dirty="0"/>
              <a:t>Quello che si evidenzia dai risultati ottenuti è che, probabilmente</a:t>
            </a:r>
            <a:r>
              <a:rPr lang="it-IT" b="1" dirty="0">
                <a:solidFill>
                  <a:schemeClr val="accent1"/>
                </a:solidFill>
              </a:rPr>
              <a:t>, i dati sono troppo complicati per rispondere bene ad un’analisi lineare.</a:t>
            </a:r>
          </a:p>
          <a:p>
            <a:r>
              <a:rPr lang="it-IT" dirty="0"/>
              <a:t>Il modello che ha ottenuto i risultati migliori è infatti l’SVM </a:t>
            </a:r>
            <a:r>
              <a:rPr lang="it-IT" b="1" dirty="0">
                <a:solidFill>
                  <a:schemeClr val="accent1"/>
                </a:solidFill>
              </a:rPr>
              <a:t>con kernel </a:t>
            </a:r>
            <a:r>
              <a:rPr lang="it-IT" b="1" dirty="0" err="1">
                <a:solidFill>
                  <a:schemeClr val="accent1"/>
                </a:solidFill>
              </a:rPr>
              <a:t>rbf</a:t>
            </a:r>
            <a:r>
              <a:rPr lang="it-IT" dirty="0">
                <a:solidFill>
                  <a:schemeClr val="accent1"/>
                </a:solidFill>
              </a:rPr>
              <a:t>.</a:t>
            </a:r>
          </a:p>
          <a:p>
            <a:r>
              <a:rPr lang="it-IT" dirty="0"/>
              <a:t>Regressione Logistica, in particolare, ha fatto molta fatica a classificare i dati, arrivando a non classificare per nulla alcune classi (il ché è evidenziato da un warning che talvolta può comparire nel codice, quando si calcolano le metriche prestazionali su LR).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6FD2C97-0EAA-7E6D-0E80-95C4E3BEAC51}"/>
              </a:ext>
            </a:extLst>
          </p:cNvPr>
          <p:cNvSpPr/>
          <p:nvPr/>
        </p:nvSpPr>
        <p:spPr>
          <a:xfrm>
            <a:off x="11071123" y="0"/>
            <a:ext cx="695428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8ED5BDE-6F34-58FB-B16B-A56DA3617E7B}"/>
              </a:ext>
            </a:extLst>
          </p:cNvPr>
          <p:cNvSpPr/>
          <p:nvPr/>
        </p:nvSpPr>
        <p:spPr>
          <a:xfrm>
            <a:off x="68826" y="5861050"/>
            <a:ext cx="11002297" cy="9729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9" name="Grafico 8">
            <a:extLst>
              <a:ext uri="{FF2B5EF4-FFF2-40B4-BE49-F238E27FC236}">
                <a16:creationId xmlns:a16="http://schemas.microsoft.com/office/drawing/2014/main" id="{5C519347-1EEC-E61C-EFCF-DBFE524A9E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122985"/>
              </p:ext>
            </p:extLst>
          </p:nvPr>
        </p:nvGraphicFramePr>
        <p:xfrm>
          <a:off x="4454065" y="491032"/>
          <a:ext cx="6332793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35707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CA7E7A-3BD5-2B63-3D33-771D7A41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rgbClr val="66AEBA"/>
                </a:solidFill>
              </a:rPr>
              <a:t>Risultati su test set e </a:t>
            </a:r>
            <a:r>
              <a:rPr lang="it-IT" b="1" dirty="0" err="1">
                <a:solidFill>
                  <a:srgbClr val="66AEBA"/>
                </a:solidFill>
              </a:rPr>
              <a:t>confusion</a:t>
            </a:r>
            <a:r>
              <a:rPr lang="it-IT" b="1" dirty="0">
                <a:solidFill>
                  <a:srgbClr val="66AEBA"/>
                </a:solidFill>
              </a:rPr>
              <a:t> </a:t>
            </a:r>
            <a:r>
              <a:rPr lang="it-IT" b="1" dirty="0" err="1">
                <a:solidFill>
                  <a:srgbClr val="66AEBA"/>
                </a:solidFill>
              </a:rPr>
              <a:t>matrix</a:t>
            </a:r>
            <a:r>
              <a:rPr lang="it-IT" b="1" dirty="0">
                <a:solidFill>
                  <a:srgbClr val="66AEBA"/>
                </a:solidFill>
              </a:rPr>
              <a:t>.</a:t>
            </a:r>
          </a:p>
        </p:txBody>
      </p:sp>
      <p:pic>
        <p:nvPicPr>
          <p:cNvPr id="8" name="Segnaposto immagine 7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6DA7F123-33BF-CB8E-F986-3B6EEA35F79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2" b="3612"/>
          <a:stretch>
            <a:fillRect/>
          </a:stretch>
        </p:blipFill>
        <p:spPr/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AD0CB37-7042-9A48-5CFB-1B9F740F8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it-IT" dirty="0"/>
              <a:t>Di seguito i risultati sul test set di </a:t>
            </a:r>
            <a:r>
              <a:rPr lang="it-IT" dirty="0" err="1"/>
              <a:t>svm</a:t>
            </a:r>
            <a:r>
              <a:rPr lang="it-IT" dirty="0"/>
              <a:t>.</a:t>
            </a:r>
          </a:p>
          <a:p>
            <a:r>
              <a:rPr lang="it-IT" dirty="0"/>
              <a:t>I risultati ci danno una panoramica della capacità di generalizzazione del modello.</a:t>
            </a:r>
          </a:p>
          <a:p>
            <a:r>
              <a:rPr lang="it-IT" dirty="0"/>
              <a:t>Ancora, la </a:t>
            </a:r>
            <a:r>
              <a:rPr lang="it-IT" dirty="0" err="1"/>
              <a:t>confusion</a:t>
            </a:r>
            <a:r>
              <a:rPr lang="it-IT" dirty="0"/>
              <a:t> </a:t>
            </a:r>
            <a:r>
              <a:rPr lang="it-IT" dirty="0" err="1"/>
              <a:t>matrix</a:t>
            </a:r>
            <a:r>
              <a:rPr lang="it-IT" dirty="0"/>
              <a:t> di </a:t>
            </a:r>
            <a:r>
              <a:rPr lang="it-IT" dirty="0" err="1"/>
              <a:t>validation</a:t>
            </a:r>
            <a:r>
              <a:rPr lang="it-IT" dirty="0"/>
              <a:t> fornisce indicazioni sulle prestazioni del modello classe per classe.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397141C-B10A-C79F-D641-59C2FA2AA35D}"/>
              </a:ext>
            </a:extLst>
          </p:cNvPr>
          <p:cNvSpPr/>
          <p:nvPr/>
        </p:nvSpPr>
        <p:spPr>
          <a:xfrm>
            <a:off x="0" y="6164826"/>
            <a:ext cx="12192000" cy="6931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835317A-0539-AC2B-7143-DD817275FEC5}"/>
              </a:ext>
            </a:extLst>
          </p:cNvPr>
          <p:cNvSpPr/>
          <p:nvPr/>
        </p:nvSpPr>
        <p:spPr>
          <a:xfrm>
            <a:off x="11513574" y="0"/>
            <a:ext cx="363794" cy="616482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04384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DF241A9E35834C9FB0063E9018F33D" ma:contentTypeVersion="14" ma:contentTypeDescription="Create a new document." ma:contentTypeScope="" ma:versionID="dd0e3199f49dd34a2f251cb33ee0a8a7">
  <xsd:schema xmlns:xsd="http://www.w3.org/2001/XMLSchema" xmlns:xs="http://www.w3.org/2001/XMLSchema" xmlns:p="http://schemas.microsoft.com/office/2006/metadata/properties" xmlns:ns3="57139a7f-6204-4058-8494-7d5ae7f3abc4" xmlns:ns4="0da21e1f-8e7e-459a-a658-c72b2859243a" targetNamespace="http://schemas.microsoft.com/office/2006/metadata/properties" ma:root="true" ma:fieldsID="0af71e0d7f424caba89310ba881567c2" ns3:_="" ns4:_="">
    <xsd:import namespace="57139a7f-6204-4058-8494-7d5ae7f3abc4"/>
    <xsd:import namespace="0da21e1f-8e7e-459a-a658-c72b2859243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39a7f-6204-4058-8494-7d5ae7f3ab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a21e1f-8e7e-459a-a658-c72b2859243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7139a7f-6204-4058-8494-7d5ae7f3abc4" xsi:nil="true"/>
  </documentManagement>
</p:properties>
</file>

<file path=customXml/itemProps1.xml><?xml version="1.0" encoding="utf-8"?>
<ds:datastoreItem xmlns:ds="http://schemas.openxmlformats.org/officeDocument/2006/customXml" ds:itemID="{A80A9373-0C8B-4CA0-A34D-852DC2212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139a7f-6204-4058-8494-7d5ae7f3abc4"/>
    <ds:schemaRef ds:uri="0da21e1f-8e7e-459a-a658-c72b285924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EA3844-739F-4AF3-9128-18DDC640A5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1031F8-DA05-44E3-BF0B-C3DA445A0A8A}">
  <ds:schemaRefs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0da21e1f-8e7e-459a-a658-c72b2859243a"/>
    <ds:schemaRef ds:uri="57139a7f-6204-4058-8494-7d5ae7f3abc4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435</Words>
  <Application>Microsoft Office PowerPoint</Application>
  <PresentationFormat>Widescreen</PresentationFormat>
  <Paragraphs>45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ML - HOMEWORK 2</vt:lpstr>
      <vt:lpstr>Cifar10</vt:lpstr>
      <vt:lpstr>Descrizione del problema</vt:lpstr>
      <vt:lpstr>Descrizione della metodologia utilizzata</vt:lpstr>
      <vt:lpstr>Risultati ottenuti dai modelli.</vt:lpstr>
      <vt:lpstr>Discussione dei risultati.</vt:lpstr>
      <vt:lpstr>Risultati su test set e confusion matrix.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TRAPANI</dc:creator>
  <cp:lastModifiedBy>ANTONIO TRAPANI</cp:lastModifiedBy>
  <cp:revision>2</cp:revision>
  <dcterms:created xsi:type="dcterms:W3CDTF">2025-04-30T15:24:30Z</dcterms:created>
  <dcterms:modified xsi:type="dcterms:W3CDTF">2025-05-02T13:23:45Z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0x010100D1DF241A9E35834C9FB0063E9018F33D</vt:lpwstr>
  </property>
</Properties>
</file>